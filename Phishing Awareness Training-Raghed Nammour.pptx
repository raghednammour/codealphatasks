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1" r:id="rId5"/>
    <p:sldId id="262" r:id="rId6"/>
    <p:sldId id="258" r:id="rId7"/>
    <p:sldId id="267" r:id="rId8"/>
    <p:sldId id="268" r:id="rId9"/>
    <p:sldId id="266" r:id="rId10"/>
    <p:sldId id="269" r:id="rId11"/>
    <p:sldId id="270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CC0066"/>
    <a:srgbClr val="D47A02"/>
    <a:srgbClr val="5EEC3C"/>
    <a:srgbClr val="E6B254"/>
    <a:srgbClr val="BF7E37"/>
    <a:srgbClr val="1D3A00"/>
    <a:srgbClr val="E39A39"/>
    <a:srgbClr val="FE9202"/>
    <a:srgbClr val="6C1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78" y="10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CB004-4867-4297-7FBA-9336395DF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2BF8B-4573-83E1-EDEC-D42852927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EBFAA-C519-C6C5-C1BF-8945FA502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0A51B-7B00-AB0F-FC70-D8CB0D5124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7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358E9-5473-C0F3-1848-CF60A487D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41C6F-16BF-BE7F-9B3D-EB55657ED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83ADDD-4F20-AD51-07B5-A18791493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B73E8-330E-C135-121B-5C5941F652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350B06-B074-48FC-8CFD-53D2CD8FB95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6743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1670" y="1655519"/>
            <a:ext cx="7940660" cy="167975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670" y="3335275"/>
            <a:ext cx="7940660" cy="7635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281175"/>
            <a:ext cx="7940659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70" y="1350111"/>
            <a:ext cx="7940660" cy="3359509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1425" y="281175"/>
            <a:ext cx="6413610" cy="916229"/>
          </a:xfrm>
          <a:noFill/>
        </p:spPr>
        <p:txBody>
          <a:bodyPr>
            <a:normAutofit/>
          </a:bodyPr>
          <a:lstStyle>
            <a:lvl1pPr algn="l">
              <a:defRPr sz="360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1425" y="1197405"/>
            <a:ext cx="6413610" cy="3511061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81175"/>
            <a:ext cx="8246070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7" y="1655520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7" y="2127916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55520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27916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164" y="2769394"/>
            <a:ext cx="1463675" cy="392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noreply@paypal.com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1670" y="1502815"/>
            <a:ext cx="7940660" cy="1832459"/>
          </a:xfrm>
        </p:spPr>
        <p:txBody>
          <a:bodyPr>
            <a:normAutofit/>
          </a:bodyPr>
          <a:lstStyle/>
          <a:p>
            <a:r>
              <a:rPr lang="en-US" sz="2800" b="1" dirty="0"/>
              <a:t>Phishing Awareness Training:</a:t>
            </a:r>
            <a:br>
              <a:rPr lang="en-US" sz="2800" b="1" dirty="0"/>
            </a:br>
            <a:r>
              <a:rPr lang="en-US" sz="2800" b="1" dirty="0"/>
              <a:t> “The Hook You Didn’t See”</a:t>
            </a:r>
            <a:endParaRPr lang="en-US" sz="2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3D2CFC6-CCC5-37E7-917B-A7848DD0E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705" y="3793390"/>
            <a:ext cx="4275740" cy="106893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If you think you can’t be fooled, think again.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128470"/>
            <a:ext cx="7940660" cy="916230"/>
          </a:xfrm>
        </p:spPr>
        <p:txBody>
          <a:bodyPr/>
          <a:lstStyle/>
          <a:p>
            <a:r>
              <a:rPr lang="en-US" b="1" dirty="0"/>
              <a:t>The $100 Million Mistake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en-US" sz="2400" dirty="0"/>
          </a:p>
          <a:p>
            <a:r>
              <a:rPr lang="en-US" sz="2400" dirty="0"/>
              <a:t>Phishing attacks can lead to devastating consequences.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r>
              <a:rPr lang="en-US" sz="2400" dirty="0"/>
              <a:t>In 2016, a single email tricked an employee into transferring </a:t>
            </a:r>
            <a:r>
              <a:rPr lang="en-US" sz="2400" b="1" dirty="0"/>
              <a:t>$100 million</a:t>
            </a:r>
            <a:r>
              <a:rPr lang="en-US" sz="2400" dirty="0"/>
              <a:t>. This wasn’t a case of sophisticated hacking or malware; it was all due to human error.  A phisher impersonated a legitimate executive, and with one email, they gained the trust of an employee.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Moral:</a:t>
            </a:r>
            <a:r>
              <a:rPr lang="en-US" sz="2400" dirty="0"/>
              <a:t> Phishing isn’t always about high-tech tricks; it’s about manipulating trust.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Phishing?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434130" y="1197405"/>
            <a:ext cx="6709869" cy="3511061"/>
          </a:xfrm>
        </p:spPr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Phishing is a form of cyberattack where scammers impersonate legitimate organizations to deceive individuals into sharing sensitive information, such as passwords, credit card numbers, and personal details.</a:t>
            </a:r>
            <a:br>
              <a:rPr lang="en-US" dirty="0"/>
            </a:br>
            <a:r>
              <a:rPr lang="en-US" dirty="0"/>
              <a:t>Phishing can occur through </a:t>
            </a:r>
            <a:r>
              <a:rPr lang="en-US" b="1" dirty="0"/>
              <a:t>emails</a:t>
            </a:r>
            <a:r>
              <a:rPr lang="en-US" dirty="0"/>
              <a:t>, </a:t>
            </a:r>
            <a:r>
              <a:rPr lang="en-US" b="1" dirty="0"/>
              <a:t>texts</a:t>
            </a:r>
            <a:r>
              <a:rPr lang="en-US" dirty="0"/>
              <a:t>, </a:t>
            </a:r>
            <a:r>
              <a:rPr lang="en-US" b="1" dirty="0"/>
              <a:t>websites</a:t>
            </a:r>
            <a:r>
              <a:rPr lang="en-US" dirty="0"/>
              <a:t>, or even </a:t>
            </a:r>
            <a:r>
              <a:rPr lang="en-US" b="1" dirty="0"/>
              <a:t>phone calls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Key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relies heavily on human interaction rather than exploiting vulnerabilities in software.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It’s a </a:t>
            </a:r>
            <a:r>
              <a:rPr lang="en-US" b="1" dirty="0"/>
              <a:t>psychological manipulation</a:t>
            </a:r>
            <a:r>
              <a:rPr lang="en-US" dirty="0"/>
              <a:t> game, not a tech battle.</a:t>
            </a:r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233EF-5E5B-1ADE-8CF2-53F24AEC9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D321CB-EFF0-FAE6-808A-14B919B42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Phishing Attacks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40F07C-ED55-5961-5463-DA7545C52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1425" y="1197404"/>
            <a:ext cx="6862575" cy="394609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Phishing attacks come in various forms, and it’s important to be aware of all of them: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Email Phishing:</a:t>
            </a:r>
            <a:r>
              <a:rPr lang="en-US" dirty="0"/>
              <a:t> The most common type, where attackers send fraudulent emails disguised as legitimate companies.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Spear Phishing:</a:t>
            </a:r>
            <a:r>
              <a:rPr lang="en-US" dirty="0"/>
              <a:t> A targeted form of phishing where attackers research and personalize emails to a specific individual or organization.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Whaling:</a:t>
            </a:r>
            <a:r>
              <a:rPr lang="en-US" dirty="0"/>
              <a:t> A type of spear phishing targeting high-profile executives, often involving urgent or sensitive topics.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Smishing:</a:t>
            </a:r>
            <a:r>
              <a:rPr lang="en-US" dirty="0"/>
              <a:t> Phishing attacks through SMS (text messages), where scammers try to lure victims to malicious websites or ask them to share personal details.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Vishing:</a:t>
            </a:r>
            <a:r>
              <a:rPr lang="en-US" dirty="0"/>
              <a:t> Voice phishing conducted via phone calls, where scammers impersonate company representatives to extract confidential information.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Clone Phishing:</a:t>
            </a:r>
            <a:r>
              <a:rPr lang="en-US" dirty="0"/>
              <a:t> Attackers send fake copies of legitimate emails with malicious attachments or links.</a:t>
            </a:r>
          </a:p>
        </p:txBody>
      </p:sp>
    </p:spTree>
    <p:extLst>
      <p:ext uri="{BB962C8B-B14F-4D97-AF65-F5344CB8AC3E}">
        <p14:creationId xmlns:p14="http://schemas.microsoft.com/office/powerpoint/2010/main" val="1786299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B5A86-76DF-CAAF-C20D-2456D10DF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7E508A-C23D-17FE-9A8E-6FB2171FC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 Phishers Trick You?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74BD1A-F7F8-6066-301C-CA40F4E4C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1425" y="1197404"/>
            <a:ext cx="6862575" cy="39460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Phishers use various tactics to make their messages look convincing:</a:t>
            </a:r>
          </a:p>
          <a:p>
            <a:r>
              <a:rPr lang="en-US" sz="1600" b="1" dirty="0"/>
              <a:t>Urgency and Fear:</a:t>
            </a:r>
            <a:r>
              <a:rPr lang="en-US" sz="1600" dirty="0"/>
              <a:t> Creating a sense of urgency, such as threatening account suspension or missing an important deadline.</a:t>
            </a:r>
          </a:p>
          <a:p>
            <a:endParaRPr lang="en-US" sz="1600" dirty="0"/>
          </a:p>
          <a:p>
            <a:r>
              <a:rPr lang="en-US" sz="1600" b="1" dirty="0"/>
              <a:t>Appealing to Greed or Curiosity:</a:t>
            </a:r>
            <a:r>
              <a:rPr lang="en-US" sz="1600" dirty="0"/>
              <a:t> Offering free prizes, exclusive deals, or enticing subjects to lure victims.</a:t>
            </a:r>
          </a:p>
          <a:p>
            <a:endParaRPr lang="en-US" sz="1600" dirty="0"/>
          </a:p>
          <a:p>
            <a:r>
              <a:rPr lang="en-US" sz="1600" b="1" dirty="0"/>
              <a:t>Impersonation:</a:t>
            </a:r>
            <a:r>
              <a:rPr lang="en-US" sz="1600" dirty="0"/>
              <a:t> Using email addresses or phone numbers that resemble trusted organizations or individuals.</a:t>
            </a:r>
          </a:p>
          <a:p>
            <a:endParaRPr lang="en-US" sz="1600" dirty="0"/>
          </a:p>
          <a:p>
            <a:r>
              <a:rPr lang="en-US" sz="1600" b="1" dirty="0"/>
              <a:t>Technical Deception:</a:t>
            </a:r>
            <a:r>
              <a:rPr lang="en-US" sz="1600" dirty="0"/>
              <a:t> Crafting messages that appear official with the use of logos, branding, and official-looking links.</a:t>
            </a:r>
          </a:p>
        </p:txBody>
      </p:sp>
    </p:spTree>
    <p:extLst>
      <p:ext uri="{BB962C8B-B14F-4D97-AF65-F5344CB8AC3E}">
        <p14:creationId xmlns:p14="http://schemas.microsoft.com/office/powerpoint/2010/main" val="2106222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128470"/>
            <a:ext cx="8093365" cy="916230"/>
          </a:xfrm>
        </p:spPr>
        <p:txBody>
          <a:bodyPr/>
          <a:lstStyle/>
          <a:p>
            <a:r>
              <a:rPr lang="en-US" b="1" dirty="0"/>
              <a:t>Recognizing Phishing Attempts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43554" y="1820343"/>
            <a:ext cx="4041775" cy="2197762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Suspicious Email Address:</a:t>
            </a:r>
            <a:r>
              <a:rPr lang="en-US" sz="1200" dirty="0"/>
              <a:t> Phishing emails often use addresses that look like legitimate ones, but with subtle misspellings (e.g., </a:t>
            </a:r>
            <a:r>
              <a:rPr lang="en-US" sz="1200" b="1" dirty="0"/>
              <a:t>noreply@paypa1.com</a:t>
            </a:r>
            <a:r>
              <a:rPr lang="en-US" sz="1200" dirty="0"/>
              <a:t> instead of </a:t>
            </a:r>
            <a:r>
              <a:rPr lang="en-US" sz="1200" b="1" dirty="0">
                <a:hlinkClick r:id="rId2"/>
              </a:rPr>
              <a:t>noreply@paypal.com</a:t>
            </a:r>
            <a:r>
              <a:rPr lang="en-US" sz="12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Generic Greetings:</a:t>
            </a:r>
            <a:r>
              <a:rPr lang="en-US" sz="1200" dirty="0"/>
              <a:t> Phishing emails often use generic greetings like “Dear Customer” instead of addressing you by name.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4419295" y="1784338"/>
            <a:ext cx="4586031" cy="2619872"/>
          </a:xfrm>
        </p:spPr>
        <p:txBody>
          <a:bodyPr>
            <a:normAutofit lnSpcReduction="10000"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Spelling and Grammar Mistakes: Legitimate companies maintain high standards in their communication. Phishing emails often contain errors.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Suspicious Links: Phishing emails may include links that look official at first glance but direct you to fake websites. Hover over links to check if the URL matches the legitimate website.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Requests for Sensitive Information: Legitimate organizations will never ask for personal information (like passwords or social security numbers) via email. 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DE0B0B6-23AF-ECAA-3F12-996947756943}"/>
              </a:ext>
            </a:extLst>
          </p:cNvPr>
          <p:cNvSpPr txBox="1">
            <a:spLocks/>
          </p:cNvSpPr>
          <p:nvPr/>
        </p:nvSpPr>
        <p:spPr>
          <a:xfrm>
            <a:off x="1670605" y="1125395"/>
            <a:ext cx="5802790" cy="44942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Here are common signs of phishing attempts:</a:t>
            </a: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AC665-6536-FA2A-2804-6FB0FCCA5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268ED0-4408-3A7B-F853-3C850EC0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670" y="128470"/>
            <a:ext cx="8093365" cy="916230"/>
          </a:xfrm>
        </p:spPr>
        <p:txBody>
          <a:bodyPr/>
          <a:lstStyle/>
          <a:p>
            <a:r>
              <a:rPr lang="en-US" b="1" dirty="0"/>
              <a:t>Social Engineering Tactics</a:t>
            </a:r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480D89E-9F48-65DD-C721-D30963F3BECA}"/>
              </a:ext>
            </a:extLst>
          </p:cNvPr>
          <p:cNvSpPr txBox="1">
            <a:spLocks/>
          </p:cNvSpPr>
          <p:nvPr/>
        </p:nvSpPr>
        <p:spPr>
          <a:xfrm>
            <a:off x="1670604" y="1251376"/>
            <a:ext cx="6260906" cy="44942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Social engineering is the art of manipulating people into divulging confidential information. Here are some common tactics: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AEB0C81-FAFE-835D-285F-02657E134E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3556" y="1700804"/>
            <a:ext cx="853192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Impersonation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Attackers pretend to be someone you know (e.g., a coworker or an IT administrator) to gain your trust.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Pretexting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The attacker creates a fabricated story to obtain personal information (e.g., the bank asking for account details).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Baiting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Scammers offer something enticing (like free software or a contest prize) in exchange for your personal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Pharming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Redirecting users to fraudulent websites without their knowledge, usually by exploiting DNS vulnerabilities or malware. </a:t>
            </a:r>
          </a:p>
        </p:txBody>
      </p:sp>
    </p:spTree>
    <p:extLst>
      <p:ext uri="{BB962C8B-B14F-4D97-AF65-F5344CB8AC3E}">
        <p14:creationId xmlns:p14="http://schemas.microsoft.com/office/powerpoint/2010/main" val="307573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8F46A-7352-EE09-4D75-B07A97B82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A0C8E3-D7F9-DF9F-29DE-F70C38A12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670" y="128470"/>
            <a:ext cx="8093365" cy="916230"/>
          </a:xfrm>
        </p:spPr>
        <p:txBody>
          <a:bodyPr/>
          <a:lstStyle/>
          <a:p>
            <a:r>
              <a:rPr lang="en-US" b="1" dirty="0"/>
              <a:t>Phishing in Real Life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A8EFDFD-60B8-BDD2-DAA2-5BAB80B4DC9A}"/>
              </a:ext>
            </a:extLst>
          </p:cNvPr>
          <p:cNvSpPr txBox="1">
            <a:spLocks/>
          </p:cNvSpPr>
          <p:nvPr/>
        </p:nvSpPr>
        <p:spPr>
          <a:xfrm>
            <a:off x="1670604" y="1251376"/>
            <a:ext cx="6260906" cy="44942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Here are some examples of how phishing is used in real-world attacks: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9A6FCA2-713D-F6D0-6FED-8C6BF6F4BE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3556" y="1731583"/>
            <a:ext cx="8531922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The CEO Fraud Scam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In this case, a hacker impersonated a CEO and sent an email to an employee, requesting a wire transfer of funds. The employee didn’t verify the request, resulting in a large sum being sent to the attacker’s account.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b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b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Fake LinkedIn Invitations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Attackers sent invitations to connect on LinkedIn, which contained links to phishing sites that captured user credentials.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b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“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Missed Delivery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” SMS: A fake SMS claimed that a package couldn’t be delivered. When the user clicked the link, it redirected them to a phishing site that stole their credit card information.</a:t>
            </a:r>
          </a:p>
        </p:txBody>
      </p:sp>
    </p:spTree>
    <p:extLst>
      <p:ext uri="{BB962C8B-B14F-4D97-AF65-F5344CB8AC3E}">
        <p14:creationId xmlns:p14="http://schemas.microsoft.com/office/powerpoint/2010/main" val="745286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025E3-861C-36A3-05C6-646D46BAF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B6F6D01-9462-232D-29C0-436BEE9198CB}"/>
              </a:ext>
            </a:extLst>
          </p:cNvPr>
          <p:cNvSpPr txBox="1">
            <a:spLocks/>
          </p:cNvSpPr>
          <p:nvPr/>
        </p:nvSpPr>
        <p:spPr>
          <a:xfrm>
            <a:off x="2281425" y="281175"/>
            <a:ext cx="7024430" cy="916229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How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/>
              <a:t>to</a:t>
            </a:r>
            <a:r>
              <a:rPr lang="en-US" b="1" dirty="0">
                <a:solidFill>
                  <a:schemeClr val="bg1"/>
                </a:solidFill>
              </a:rPr>
              <a:t> Protect Yourself from Phishing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22FF57F1-25B7-3CD8-9DBF-CFEF845472D7}"/>
              </a:ext>
            </a:extLst>
          </p:cNvPr>
          <p:cNvSpPr txBox="1">
            <a:spLocks/>
          </p:cNvSpPr>
          <p:nvPr/>
        </p:nvSpPr>
        <p:spPr>
          <a:xfrm>
            <a:off x="143555" y="1197404"/>
            <a:ext cx="9000445" cy="394609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Verify Sources: </a:t>
            </a:r>
            <a:r>
              <a:rPr lang="en-US" sz="1600" dirty="0">
                <a:solidFill>
                  <a:schemeClr val="bg1"/>
                </a:solidFill>
              </a:rPr>
              <a:t>Always verify the sender of suspicious emails or messages. Contact them directly through official channels (e.g., call the bank to verify if an email is legitimate).</a:t>
            </a:r>
          </a:p>
          <a:p>
            <a:endParaRPr lang="en-US" sz="1600" dirty="0"/>
          </a:p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Enable Multi-Factor Authentication (MFA): </a:t>
            </a:r>
            <a:r>
              <a:rPr lang="en-US" sz="1600" dirty="0">
                <a:solidFill>
                  <a:schemeClr val="bg1"/>
                </a:solidFill>
              </a:rPr>
              <a:t>This adds an additional layer of security by requiring you know (password) and something you have (phone or authentication something app).</a:t>
            </a:r>
          </a:p>
          <a:p>
            <a:endParaRPr lang="en-US" sz="1600" dirty="0"/>
          </a:p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Use Anti-Phishing Tools:</a:t>
            </a:r>
            <a:r>
              <a:rPr lang="en-US" sz="1600" dirty="0">
                <a:solidFill>
                  <a:schemeClr val="bg1"/>
                </a:solidFill>
              </a:rPr>
              <a:t> Many email providers, browsers, and security software now include phishing detection and prevention tools.</a:t>
            </a:r>
          </a:p>
          <a:p>
            <a:endParaRPr lang="en-US" sz="1600" dirty="0"/>
          </a:p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Don’t Click Unsolicited Links: </a:t>
            </a:r>
            <a:r>
              <a:rPr lang="en-US" sz="1600" dirty="0">
                <a:solidFill>
                  <a:schemeClr val="bg1"/>
                </a:solidFill>
              </a:rPr>
              <a:t>Be cautious when clicking on links or downloading attachments from unknown or unsolicited sources.</a:t>
            </a:r>
          </a:p>
          <a:p>
            <a:endParaRPr lang="en-US" sz="1600" dirty="0"/>
          </a:p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Regularly Update Software and Security Patches: </a:t>
            </a:r>
            <a:r>
              <a:rPr lang="en-US" sz="1600" dirty="0">
                <a:solidFill>
                  <a:schemeClr val="bg1"/>
                </a:solidFill>
              </a:rPr>
              <a:t>Keep your operating systems, browsers, and security software up to date to defend against phishing attempts that exploit known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261525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9125B-7733-75C4-625C-4DAA38DC5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ACFF47-F511-6C4E-5941-B3ED353DE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0605" y="281175"/>
            <a:ext cx="7473395" cy="91622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to Do If You Fall for a Phishing Attack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85A366-ADBD-6D39-C407-E258D89CB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1426" y="1197404"/>
            <a:ext cx="6862574" cy="39460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If you’ve been phished, it’s important to act fast: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b="1" dirty="0"/>
              <a:t>Report the Incident:</a:t>
            </a:r>
            <a:r>
              <a:rPr lang="en-US" sz="1600" dirty="0"/>
              <a:t> Immediately report the phishing attempt to your IT team, bank, or any relevant authorities.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b="1" dirty="0"/>
              <a:t>Change Passwords:</a:t>
            </a:r>
            <a:r>
              <a:rPr lang="en-US" sz="1600" dirty="0"/>
              <a:t> Update your passwords, especially if you entered any sensitive information.</a:t>
            </a:r>
          </a:p>
          <a:p>
            <a:endParaRPr lang="en-US" sz="1600" dirty="0"/>
          </a:p>
          <a:p>
            <a:r>
              <a:rPr lang="en-US" sz="1600" b="1" dirty="0"/>
              <a:t>Monitor Your Accounts:</a:t>
            </a:r>
            <a:r>
              <a:rPr lang="en-US" sz="1600" dirty="0"/>
              <a:t> Check your accounts for unusual activity and report any unauthorized transactions immediately.</a:t>
            </a:r>
          </a:p>
          <a:p>
            <a:endParaRPr lang="en-US" sz="1600" dirty="0"/>
          </a:p>
          <a:p>
            <a:r>
              <a:rPr lang="en-US" sz="1600" b="1" dirty="0"/>
              <a:t>Educate Yourself and Others:</a:t>
            </a:r>
            <a:r>
              <a:rPr lang="en-US" sz="1600" dirty="0"/>
              <a:t> The best defense is awareness. Share the experience with your coworkers to prevent future incidents.</a:t>
            </a:r>
          </a:p>
        </p:txBody>
      </p:sp>
    </p:spTree>
    <p:extLst>
      <p:ext uri="{BB962C8B-B14F-4D97-AF65-F5344CB8AC3E}">
        <p14:creationId xmlns:p14="http://schemas.microsoft.com/office/powerpoint/2010/main" val="2901316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06873-EFF5-9E73-52D0-FABEDC090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5873AB9B-C3D2-50C0-8002-3D94BB404DCC}"/>
              </a:ext>
            </a:extLst>
          </p:cNvPr>
          <p:cNvSpPr txBox="1">
            <a:spLocks/>
          </p:cNvSpPr>
          <p:nvPr/>
        </p:nvSpPr>
        <p:spPr>
          <a:xfrm>
            <a:off x="3197655" y="281175"/>
            <a:ext cx="6108199" cy="91622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chemeClr val="bg1"/>
                </a:solidFill>
              </a:rPr>
              <a:t>Conclusion &amp; Key Takeaways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30BD784-1BB1-CA54-4604-162EF3ABAF60}"/>
              </a:ext>
            </a:extLst>
          </p:cNvPr>
          <p:cNvSpPr txBox="1">
            <a:spLocks/>
          </p:cNvSpPr>
          <p:nvPr/>
        </p:nvSpPr>
        <p:spPr>
          <a:xfrm>
            <a:off x="143555" y="1197404"/>
            <a:ext cx="9000445" cy="394609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2000" dirty="0">
                <a:solidFill>
                  <a:schemeClr val="bg1"/>
                </a:solidFill>
              </a:rPr>
              <a:t>Phishing attacks are a constant threat, but with awareness and the right precautions, you can protect yourself and your organization.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Here are the key takeaways: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Always 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verify</a:t>
            </a:r>
            <a:r>
              <a:rPr lang="en-US" sz="2000" dirty="0">
                <a:solidFill>
                  <a:schemeClr val="bg1"/>
                </a:solidFill>
              </a:rPr>
              <a:t> suspicious emails or messages.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Think before you click</a:t>
            </a:r>
            <a:r>
              <a:rPr lang="en-US" sz="2000" dirty="0">
                <a:solidFill>
                  <a:schemeClr val="bg1"/>
                </a:solidFill>
              </a:rPr>
              <a:t>—don’t rush into decisions when handling sensitive information.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Use 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multi-factor authentication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and 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regularly update your software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to add an extra layer of security.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Stay skeptical</a:t>
            </a:r>
            <a:r>
              <a:rPr lang="en-US" sz="2000" dirty="0">
                <a:solidFill>
                  <a:schemeClr val="bg1"/>
                </a:solidFill>
              </a:rPr>
              <a:t>—if something seems too good to be true, it probably is.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2698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1131</Words>
  <Application>Microsoft Office PowerPoint</Application>
  <PresentationFormat>On-screen Show (16:9)</PresentationFormat>
  <Paragraphs>103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Phishing Awareness Training:  “The Hook You Didn’t See”</vt:lpstr>
      <vt:lpstr>The $100 Million Mistake</vt:lpstr>
      <vt:lpstr>What Is Phishing?</vt:lpstr>
      <vt:lpstr>Types of Phishing Attacks</vt:lpstr>
      <vt:lpstr>How Do Phishers Trick You?</vt:lpstr>
      <vt:lpstr>Recognizing Phishing Attempts</vt:lpstr>
      <vt:lpstr>Social Engineering Tactics</vt:lpstr>
      <vt:lpstr>Phishing in Real Life</vt:lpstr>
      <vt:lpstr>PowerPoint Presentation</vt:lpstr>
      <vt:lpstr>What to Do If You Fall for a Phishing Attack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2025-02-12T19:00:48Z</dcterms:modified>
</cp:coreProperties>
</file>